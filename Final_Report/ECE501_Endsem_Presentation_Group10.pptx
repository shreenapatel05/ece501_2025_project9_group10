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  <p:embeddedFont>
      <p:font typeface="Helvetica Neue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wF13+TxXivKCu1FXyEry82Hkd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47D947-0C35-4C03-B3DB-5A1AC2D8DC1C}">
  <a:tblStyle styleId="{4B47D947-0C35-4C03-B3DB-5A1AC2D8DC1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C9DA5D1-0261-464E-9AE0-B379A8CF32F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22" Type="http://schemas.openxmlformats.org/officeDocument/2006/relationships/font" Target="fonts/HelveticaNeue-boldItalic.fntdata"/><Relationship Id="rId21" Type="http://schemas.openxmlformats.org/officeDocument/2006/relationships/font" Target="fonts/HelveticaNeue-italic.fntdata"/><Relationship Id="rId24" Type="http://schemas.openxmlformats.org/officeDocument/2006/relationships/font" Target="fonts/HelveticaNeueLight-bold.fntdata"/><Relationship Id="rId23" Type="http://schemas.openxmlformats.org/officeDocument/2006/relationships/font" Target="fonts/HelveticaNeueL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Light-boldItalic.fntdata"/><Relationship Id="rId25" Type="http://schemas.openxmlformats.org/officeDocument/2006/relationships/font" Target="fonts/HelveticaNeueLight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HelveticaNeue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bb783d85_2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a3bb783d85_2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3bb783d85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a3bb783d85_2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a3bb783d85_2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3bb783d8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3bb783d8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a3bb783d85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3bb783d85_1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3bb783d85_1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a3bb783d85_1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3bb783d85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a3bb783d85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a3bb783d85_2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3bb783d85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a3bb783d85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a3bb783d85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3bb783d85_2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a3bb783d85_2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a3bb783d85_2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458059b7d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a458059b7d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a458059b7d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3bb783d85_2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a3bb783d85_2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a3bb783d85_2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3bb783d85_2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a3bb783d85_2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a3bb783d85_2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3bb783d85_2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a3bb783d85_2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a3bb783d85_2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3bb783d85_2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a3bb783d85_2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a3bb783d85_2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5f73cc1e5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85f73cc1e5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85f73cc1e5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hyperlink" Target="https://doi.org/10.1007/978-3-319-95588-9_8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olivalab.mit.edu/Papers/Oliva-Schyns_Hybrid-Image-Illusion-Chapter.pdf" TargetMode="External"/><Relationship Id="rId4" Type="http://schemas.openxmlformats.org/officeDocument/2006/relationships/hyperlink" Target="https://doi.org/10.1186/s42492-019-0036-3" TargetMode="External"/><Relationship Id="rId9" Type="http://schemas.openxmlformats.org/officeDocument/2006/relationships/hyperlink" Target="https://doi.org/10.1117/1.JEI.26.4.043016" TargetMode="External"/><Relationship Id="rId5" Type="http://schemas.openxmlformats.org/officeDocument/2006/relationships/hyperlink" Target="https://dl.acm.org/doi/10.1145/2811411.2811547" TargetMode="External"/><Relationship Id="rId6" Type="http://schemas.openxmlformats.org/officeDocument/2006/relationships/hyperlink" Target="https://doi.org/10.1109/IJCB62174.2024.10744431" TargetMode="External"/><Relationship Id="rId7" Type="http://schemas.openxmlformats.org/officeDocument/2006/relationships/hyperlink" Target="https://doi.org/10.1109/IJCB54206.2022.10007977" TargetMode="External"/><Relationship Id="rId8" Type="http://schemas.openxmlformats.org/officeDocument/2006/relationships/hyperlink" Target="https://doi.org/10.1109/TVCG.2013.163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3bb783d85_2_127"/>
          <p:cNvSpPr txBox="1"/>
          <p:nvPr>
            <p:ph type="title"/>
          </p:nvPr>
        </p:nvSpPr>
        <p:spPr>
          <a:xfrm>
            <a:off x="838200" y="3428991"/>
            <a:ext cx="10515600" cy="1723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800">
                <a:latin typeface="Times New Roman"/>
                <a:ea typeface="Times New Roman"/>
                <a:cs typeface="Times New Roman"/>
                <a:sym typeface="Times New Roman"/>
              </a:rPr>
              <a:t>Hybrid Multi-Frequency Image Illusion</a:t>
            </a:r>
            <a:endParaRPr sz="5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g3a3bb783d85_2_127"/>
          <p:cNvSpPr txBox="1"/>
          <p:nvPr/>
        </p:nvSpPr>
        <p:spPr>
          <a:xfrm>
            <a:off x="838200" y="5291950"/>
            <a:ext cx="9940200" cy="5310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5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- 10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g3a3bb783d85_2_127"/>
          <p:cNvSpPr txBox="1"/>
          <p:nvPr>
            <p:ph idx="4294967295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91" name="Google Shape;91;g3a3bb783d85_2_127"/>
          <p:cNvSpPr txBox="1"/>
          <p:nvPr>
            <p:ph idx="4294967295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Google Shape;97;g3a3bb783d85_2_132"/>
          <p:cNvGraphicFramePr/>
          <p:nvPr/>
        </p:nvGraphicFramePr>
        <p:xfrm>
          <a:off x="952500" y="355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{4B47D947-0C35-4C03-B3DB-5A1AC2D8DC1C}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SHREENA PATEL</a:t>
                      </a:r>
                      <a:endParaRPr b="1" sz="2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1B1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AU2340240</a:t>
                      </a:r>
                      <a:endParaRPr b="1" sz="2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DHYEY PATEL</a:t>
                      </a:r>
                      <a:endParaRPr b="1" sz="2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AU2340245</a:t>
                      </a:r>
                      <a:endParaRPr b="1" sz="2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HETVI RAVAL </a:t>
                      </a:r>
                      <a:endParaRPr b="1" sz="2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AU2340015</a:t>
                      </a:r>
                      <a:endParaRPr b="1" sz="2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DHVANI HIRAPARA</a:t>
                      </a:r>
                      <a:endParaRPr b="1" sz="2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AU2340238</a:t>
                      </a:r>
                      <a:endParaRPr b="1" sz="2500" u="none" cap="none" strike="noStrike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1B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" name="Google Shape;98;g3a3bb783d85_2_132"/>
          <p:cNvSpPr txBox="1"/>
          <p:nvPr>
            <p:ph idx="4294967295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99" name="Google Shape;99;g3a3bb783d85_2_132"/>
          <p:cNvSpPr txBox="1"/>
          <p:nvPr>
            <p:ph idx="4294967295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3bb783d85_1_0"/>
          <p:cNvSpPr txBox="1"/>
          <p:nvPr>
            <p:ph type="title"/>
          </p:nvPr>
        </p:nvSpPr>
        <p:spPr>
          <a:xfrm>
            <a:off x="587375" y="260350"/>
            <a:ext cx="10515600" cy="1080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00">
              <a:solidFill>
                <a:srgbClr val="801B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00">
              <a:solidFill>
                <a:srgbClr val="801B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700">
                <a:solidFill>
                  <a:srgbClr val="801B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 Before Mid-Sem </a:t>
            </a:r>
            <a:endParaRPr sz="5700">
              <a:solidFill>
                <a:srgbClr val="801B1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3a3bb783d85_1_0"/>
          <p:cNvSpPr txBox="1"/>
          <p:nvPr>
            <p:ph idx="1" type="body"/>
          </p:nvPr>
        </p:nvSpPr>
        <p:spPr>
          <a:xfrm>
            <a:off x="587377" y="159227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Concept development of Hybrid Multi-Frequency Image Illusion.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Experimented spatial frequencies low frequency (far view), high frequency (near view).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Literary review: Oxford Compendium, Gonzalez and Woods (1992).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 Collected information: Einstein, Marilyn Monroe and pictures of the actual existence.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Methodology: Preprocessing, Alignment, Frequency Separation, Hybrid.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g3a3bb783d85_1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08" name="Google Shape;108;g3a3bb783d85_1_0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3bb783d85_1_14"/>
          <p:cNvSpPr txBox="1"/>
          <p:nvPr>
            <p:ph type="title"/>
          </p:nvPr>
        </p:nvSpPr>
        <p:spPr>
          <a:xfrm>
            <a:off x="594303" y="1159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Before Midsem</a:t>
            </a:r>
            <a:endParaRPr sz="5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g3a3bb783d85_1_14"/>
          <p:cNvSpPr txBox="1"/>
          <p:nvPr>
            <p:ph idx="1" type="body"/>
          </p:nvPr>
        </p:nvSpPr>
        <p:spPr>
          <a:xfrm>
            <a:off x="594300" y="1592400"/>
            <a:ext cx="10771500" cy="430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Showed perception depending on distance.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Near view: High frequency image prevails.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Far view: picture of low frequency is revealed.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Mastered good use of spatial filters.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•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The following steps have been identified: Adaptive filtering, application study, quantitative analysis.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g3a3bb783d85_1_1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17" name="Google Shape;117;g3a3bb783d85_1_14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3bb783d85_2_10"/>
          <p:cNvSpPr txBox="1"/>
          <p:nvPr>
            <p:ph type="title"/>
          </p:nvPr>
        </p:nvSpPr>
        <p:spPr>
          <a:xfrm>
            <a:off x="587378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Methodology</a:t>
            </a:r>
            <a:endParaRPr sz="5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g3a3bb783d85_2_10"/>
          <p:cNvSpPr txBox="1"/>
          <p:nvPr>
            <p:ph idx="1" type="body"/>
          </p:nvPr>
        </p:nvSpPr>
        <p:spPr>
          <a:xfrm>
            <a:off x="1385250" y="1420750"/>
            <a:ext cx="5637600" cy="38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Alignment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Frequency Separation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Composition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Visualisation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Quantitative Analysis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AutoNum type="arabicPeriod"/>
            </a:pP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Restoration(demorphing)</a:t>
            </a:r>
            <a:endParaRPr b="1"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a3bb783d85_2_1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|  </a:t>
            </a:r>
            <a:fld id="{00000000-1234-1234-1234-123412341234}" type="slidenum"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a3bb783d85_2_10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g3a3bb783d85_2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238" y="366725"/>
            <a:ext cx="3686175" cy="57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3bb783d85_1_28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Coloured Hybrid Image</a:t>
            </a:r>
            <a:endParaRPr sz="5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a3bb783d85_1_2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35" name="Google Shape;135;g3a3bb783d85_1_2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g3a3bb783d85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4125" y="1979613"/>
            <a:ext cx="3826875" cy="372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a3bb783d85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200" y="2538550"/>
            <a:ext cx="2677049" cy="260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a3bb783d85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250" y="2843823"/>
            <a:ext cx="2049075" cy="19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a3bb783d85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00" y="3364524"/>
            <a:ext cx="1198074" cy="116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3bb783d85_2_78"/>
          <p:cNvSpPr txBox="1"/>
          <p:nvPr>
            <p:ph type="title"/>
          </p:nvPr>
        </p:nvSpPr>
        <p:spPr>
          <a:xfrm>
            <a:off x="587378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De-Morphing</a:t>
            </a:r>
            <a:endParaRPr sz="5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g3a3bb783d85_2_7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|  </a:t>
            </a:r>
            <a:fld id="{00000000-1234-1234-1234-123412341234}" type="slidenum"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g3a3bb783d85_2_78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g3a3bb783d85_2_78"/>
          <p:cNvPicPr preferRelativeResize="0"/>
          <p:nvPr/>
        </p:nvPicPr>
        <p:blipFill rotWithShape="1">
          <a:blip r:embed="rId3">
            <a:alphaModFix/>
          </a:blip>
          <a:srcRect b="7662" l="1802" r="1802" t="7670"/>
          <a:stretch/>
        </p:blipFill>
        <p:spPr>
          <a:xfrm>
            <a:off x="2154025" y="1364572"/>
            <a:ext cx="7772398" cy="2346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a3bb783d85_2_78"/>
          <p:cNvPicPr preferRelativeResize="0"/>
          <p:nvPr/>
        </p:nvPicPr>
        <p:blipFill rotWithShape="1">
          <a:blip r:embed="rId4">
            <a:alphaModFix/>
          </a:blip>
          <a:srcRect b="5444" l="1076" r="1066" t="5444"/>
          <a:stretch/>
        </p:blipFill>
        <p:spPr>
          <a:xfrm>
            <a:off x="2154025" y="3711125"/>
            <a:ext cx="7772399" cy="245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458059b7d_0_26"/>
          <p:cNvSpPr txBox="1"/>
          <p:nvPr>
            <p:ph type="title"/>
          </p:nvPr>
        </p:nvSpPr>
        <p:spPr>
          <a:xfrm>
            <a:off x="587375" y="0"/>
            <a:ext cx="105156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 </a:t>
            </a: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 sz="5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a458059b7d_0_2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|  </a:t>
            </a:r>
            <a:fld id="{00000000-1234-1234-1234-123412341234}" type="slidenum"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a458059b7d_0_26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8" name="Google Shape;158;g3a458059b7d_0_26" title="download.png"/>
          <p:cNvPicPr preferRelativeResize="0"/>
          <p:nvPr/>
        </p:nvPicPr>
        <p:blipFill rotWithShape="1">
          <a:blip r:embed="rId3">
            <a:alphaModFix/>
          </a:blip>
          <a:srcRect b="11252" l="11004" r="11004" t="55672"/>
          <a:stretch/>
        </p:blipFill>
        <p:spPr>
          <a:xfrm>
            <a:off x="395404" y="1133050"/>
            <a:ext cx="11401186" cy="488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bb783d85_2_86"/>
          <p:cNvSpPr txBox="1"/>
          <p:nvPr>
            <p:ph type="title"/>
          </p:nvPr>
        </p:nvSpPr>
        <p:spPr>
          <a:xfrm>
            <a:off x="587375" y="0"/>
            <a:ext cx="105156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</a:t>
            </a: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Analysis</a:t>
            </a:r>
            <a:endParaRPr sz="5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3a3bb783d85_2_8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|  </a:t>
            </a:r>
            <a:fld id="{00000000-1234-1234-1234-123412341234}" type="slidenum"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a3bb783d85_2_86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7" name="Google Shape;167;g3a3bb783d85_2_86"/>
          <p:cNvGraphicFramePr/>
          <p:nvPr/>
        </p:nvGraphicFramePr>
        <p:xfrm>
          <a:off x="838200" y="394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{0C9DA5D1-0261-464E-9AE0-B379A8CF32F6}</a:tableStyleId>
              </a:tblPr>
              <a:tblGrid>
                <a:gridCol w="3505200"/>
                <a:gridCol w="3505200"/>
                <a:gridCol w="3505200"/>
              </a:tblGrid>
              <a:tr h="358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Parameter Increase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MSE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PSNR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Increase α 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↓ Strong decrease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↓ Strong increase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Increase β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↓ Moderate decrease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↓ Moderate decrease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Low α + High β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↑ High error 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↓ Low PSNR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58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High α + High β 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↓ Lowest MSE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↓ Lowest MSE</a:t>
                      </a:r>
                      <a:endParaRPr b="1"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8" name="Google Shape;168;g3a3bb783d85_2_86" title="Code_Generated_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8838" y="1206975"/>
            <a:ext cx="6814324" cy="251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3bb783d85_2_94"/>
          <p:cNvSpPr txBox="1"/>
          <p:nvPr>
            <p:ph type="title"/>
          </p:nvPr>
        </p:nvSpPr>
        <p:spPr>
          <a:xfrm>
            <a:off x="587378" y="-302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</a:t>
            </a: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 sz="5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g3a3bb783d85_2_9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|  </a:t>
            </a:r>
            <a:fld id="{00000000-1234-1234-1234-123412341234}" type="slidenum"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g3a3bb783d85_2_94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g3a3bb783d85_2_94" title="Code_Generated_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650" y="1114975"/>
            <a:ext cx="7351308" cy="275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a3bb783d85_2_94"/>
          <p:cNvPicPr preferRelativeResize="0"/>
          <p:nvPr/>
        </p:nvPicPr>
        <p:blipFill rotWithShape="1">
          <a:blip r:embed="rId4">
            <a:alphaModFix/>
          </a:blip>
          <a:srcRect b="0" l="0" r="5811" t="0"/>
          <a:stretch/>
        </p:blipFill>
        <p:spPr>
          <a:xfrm>
            <a:off x="2791237" y="3978150"/>
            <a:ext cx="4571199" cy="24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a3bb783d85_2_94"/>
          <p:cNvPicPr preferRelativeResize="0"/>
          <p:nvPr/>
        </p:nvPicPr>
        <p:blipFill rotWithShape="1">
          <a:blip r:embed="rId5">
            <a:alphaModFix/>
          </a:blip>
          <a:srcRect b="0" l="1210" r="51489" t="0"/>
          <a:stretch/>
        </p:blipFill>
        <p:spPr>
          <a:xfrm>
            <a:off x="5098200" y="3963225"/>
            <a:ext cx="2295576" cy="245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a3bb783d85_2_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7775" y="3963225"/>
            <a:ext cx="2295585" cy="24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3bb783d85_2_103"/>
          <p:cNvSpPr txBox="1"/>
          <p:nvPr>
            <p:ph type="title"/>
          </p:nvPr>
        </p:nvSpPr>
        <p:spPr>
          <a:xfrm>
            <a:off x="587378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5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a3bb783d85_2_103"/>
          <p:cNvSpPr txBox="1"/>
          <p:nvPr>
            <p:ph idx="1" type="body"/>
          </p:nvPr>
        </p:nvSpPr>
        <p:spPr>
          <a:xfrm>
            <a:off x="838200" y="1629588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Successfully created hybrid illusions using only classical image processing.</a:t>
            </a:r>
            <a:b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Grayscale and color hybrids showed clear distance-based perceptual shifts.</a:t>
            </a:r>
            <a:b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Demorphing validated correct frequency encoding (with minor information loss).</a:t>
            </a:r>
            <a:b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Illusion quality depended on manual tuning of filter parameters.</a:t>
            </a:r>
            <a:b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Accurate spatial alignment of source images was essential for success.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a3bb783d85_2_10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|  </a:t>
            </a:r>
            <a:fld id="{00000000-1234-1234-1234-123412341234}" type="slidenum"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a3bb783d85_2_103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3bb783d85_2_29"/>
          <p:cNvSpPr txBox="1"/>
          <p:nvPr>
            <p:ph type="title"/>
          </p:nvPr>
        </p:nvSpPr>
        <p:spPr>
          <a:xfrm>
            <a:off x="587378" y="-4025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5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g3a3bb783d85_2_29"/>
          <p:cNvSpPr txBox="1"/>
          <p:nvPr>
            <p:ph idx="1" type="body"/>
          </p:nvPr>
        </p:nvSpPr>
        <p:spPr>
          <a:xfrm>
            <a:off x="838200" y="1067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Gonzalez, R. C., Woods, R. C., &amp; Woods, R. E. (1992). </a:t>
            </a: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Digital image processing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. Addison-Wesley.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Shapiro, A. G., &amp; Todorovic, D. (2017). </a:t>
            </a: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Hybrid Image Illusion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. Computational Perception &amp; Cognition. Retrieved October 02, 2025, from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http://olivalab.mit.edu/Papers/Oliva-Schyns_Hybrid-Image-Illusion-Chapter.pdf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Sripian, P., &amp; Yamaguchi, Y. (2020, February 10). </a:t>
            </a: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Hybrid image of three contents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. Springer Open.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https://doi.org/10.1186/s42492-019-0036-3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Yang, J., Zheng, H., &amp; Oh, K. (2015, October 09). </a:t>
            </a: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Proceedings of the 2024 CHI Conference on Human Factors in Computing Systems | ACM Conferences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. ACM Digital Library. Retrieved October 12, 2025, from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https://dl.acm.org/doi/10.1145/2811411.2811547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Shukla, N., Ross, A. (2024). </a:t>
            </a: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Facial demorphing via identity preserving image decomposition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. IEEE International Joint Conference on Biometrics (IJCB) (pp. 1–10). IEEE.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https://doi.org/10.1109/IJCB62174.2024.10744431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Banerjee, S., Jaiswal, P., Ross, A. (2022). </a:t>
            </a: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Facial de-morphing: Extracting component faces from a single morph.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IEEE International Joint Conference on Biometrics (IJCB) (pp. 1–10). IEEE.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https://doi.org/10.1109/IJCB54206.2022.10007977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Isenberg, P., Dragicevic, P., Willett, W., Bezerianos, A., Fekete, J.D. (2013). </a:t>
            </a: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Hybrid-image visualization for large viewing environments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. IEEE Transactions on Visualization and Computer Graphics, 19(12), 2346–2355.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https://doi.org/10.1109/TVCG.2013.163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Sripian, P., Yamaguchi, Y. (2017). </a:t>
            </a: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Synthesis and assessment methods for an edge-alignment-free hybrid image. Journal of Electronic Imaging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, 26(4), 043016.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https://doi.org/10.1117/1.JEI.26.4.043016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Sripian, P. (2019). </a:t>
            </a:r>
            <a:r>
              <a:rPr i="1" lang="en-US" sz="1400">
                <a:latin typeface="Times New Roman"/>
                <a:ea typeface="Times New Roman"/>
                <a:cs typeface="Times New Roman"/>
                <a:sym typeface="Times New Roman"/>
              </a:rPr>
              <a:t>Computational visual illusion and its application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. In L. Cocchiarella (Ed.), ICGG 2018 – Proceedings of the 18th International Conference on Geometry and Graphics (pp. 106–113). Springer.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https://doi.org/10.1007/978-3-319-95588-9_8</a:t>
            </a: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3a3bb783d85_2_2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|  </a:t>
            </a:r>
            <a:fld id="{00000000-1234-1234-1234-123412341234}" type="slidenum"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g3a3bb783d85_2_29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5f73cc1e5_1_36"/>
          <p:cNvSpPr txBox="1"/>
          <p:nvPr>
            <p:ph type="title"/>
          </p:nvPr>
        </p:nvSpPr>
        <p:spPr>
          <a:xfrm>
            <a:off x="678000" y="2766150"/>
            <a:ext cx="10836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7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7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385f73cc1e5_1_3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|  </a:t>
            </a:r>
            <a:fld id="{00000000-1234-1234-1234-123412341234}" type="slidenum">
              <a:rPr b="0"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g385f73cc1e5_1_36"/>
          <p:cNvSpPr txBox="1"/>
          <p:nvPr>
            <p:ph idx="10" type="dt"/>
          </p:nvPr>
        </p:nvSpPr>
        <p:spPr>
          <a:xfrm>
            <a:off x="7924775" y="6296699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17/11/25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